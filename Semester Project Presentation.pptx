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1F3A"/>
                </a:solidFill>
                <a:latin typeface="Arial"/>
              </a:rPr>
              <a:t>Learning Curves — Training vs Cross-Validation F1 Score  (3-fold stratified CV)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Underfit – Train</c:v>
                </c:pt>
              </c:strCache>
            </c:strRef>
          </c:tx>
          <c:spPr>
            <a:solidFill>
              <a:srgbClr val="B45309"/>
            </a:solidFill>
            <a:ln w="2540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10%</c:v>
                  </c:pt>
                  <c:pt idx="1">
                    <c:v>23%</c:v>
                  </c:pt>
                  <c:pt idx="2">
                    <c:v>37%</c:v>
                  </c:pt>
                  <c:pt idx="3">
                    <c:v>50%</c:v>
                  </c:pt>
                  <c:pt idx="4">
                    <c:v>63%</c:v>
                  </c:pt>
                  <c:pt idx="5">
                    <c:v>77%</c:v>
                  </c:pt>
                  <c:pt idx="6">
                    <c:v>90%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0.43</c:v>
                </c:pt>
                <c:pt idx="1">
                  <c:v>0.44</c:v>
                </c:pt>
                <c:pt idx="2">
                  <c:v>0.44</c:v>
                </c:pt>
                <c:pt idx="3">
                  <c:v>0.45</c:v>
                </c:pt>
                <c:pt idx="4">
                  <c:v>0.45</c:v>
                </c:pt>
                <c:pt idx="5">
                  <c:v>0.46</c:v>
                </c:pt>
                <c:pt idx="6">
                  <c:v>0.46</c:v>
                </c:pt>
                <c:pt idx="7">
                  <c:v>0.47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Underfit – Val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10%</c:v>
                  </c:pt>
                  <c:pt idx="1">
                    <c:v>23%</c:v>
                  </c:pt>
                  <c:pt idx="2">
                    <c:v>37%</c:v>
                  </c:pt>
                  <c:pt idx="3">
                    <c:v>50%</c:v>
                  </c:pt>
                  <c:pt idx="4">
                    <c:v>63%</c:v>
                  </c:pt>
                  <c:pt idx="5">
                    <c:v>77%</c:v>
                  </c:pt>
                  <c:pt idx="6">
                    <c:v>90%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</c:v>
                </c:pt>
                <c:pt idx="1">
                  <c:v>0.41</c:v>
                </c:pt>
                <c:pt idx="2">
                  <c:v>0.42</c:v>
                </c:pt>
                <c:pt idx="3">
                  <c:v>0.43</c:v>
                </c:pt>
                <c:pt idx="4">
                  <c:v>0.43</c:v>
                </c:pt>
                <c:pt idx="5">
                  <c:v>0.44</c:v>
                </c:pt>
                <c:pt idx="6">
                  <c:v>0.44</c:v>
                </c:pt>
                <c:pt idx="7">
                  <c:v>0.44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Baseline – Train</c:v>
                </c:pt>
              </c:strCache>
            </c:strRef>
          </c:tx>
          <c:spPr>
            <a:solidFill>
              <a:srgbClr val="047857"/>
            </a:solidFill>
            <a:ln w="25400" cap="flat">
              <a:solidFill>
                <a:srgbClr val="0478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7857"/>
              </a:solidFill>
              <a:ln w="9525" cap="flat">
                <a:solidFill>
                  <a:srgbClr val="0478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10%</c:v>
                  </c:pt>
                  <c:pt idx="1">
                    <c:v>23%</c:v>
                  </c:pt>
                  <c:pt idx="2">
                    <c:v>37%</c:v>
                  </c:pt>
                  <c:pt idx="3">
                    <c:v>50%</c:v>
                  </c:pt>
                  <c:pt idx="4">
                    <c:v>63%</c:v>
                  </c:pt>
                  <c:pt idx="5">
                    <c:v>77%</c:v>
                  </c:pt>
                  <c:pt idx="6">
                    <c:v>90%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0.82</c:v>
                </c:pt>
                <c:pt idx="1">
                  <c:v>0.8</c:v>
                </c:pt>
                <c:pt idx="2">
                  <c:v>0.79</c:v>
                </c:pt>
                <c:pt idx="3">
                  <c:v>0.78</c:v>
                </c:pt>
                <c:pt idx="4">
                  <c:v>0.77</c:v>
                </c:pt>
                <c:pt idx="5">
                  <c:v>0.76</c:v>
                </c:pt>
                <c:pt idx="6">
                  <c:v>0.75</c:v>
                </c:pt>
                <c:pt idx="7">
                  <c:v>0.75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Baseline – Val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10%</c:v>
                  </c:pt>
                  <c:pt idx="1">
                    <c:v>23%</c:v>
                  </c:pt>
                  <c:pt idx="2">
                    <c:v>37%</c:v>
                  </c:pt>
                  <c:pt idx="3">
                    <c:v>50%</c:v>
                  </c:pt>
                  <c:pt idx="4">
                    <c:v>63%</c:v>
                  </c:pt>
                  <c:pt idx="5">
                    <c:v>77%</c:v>
                  </c:pt>
                  <c:pt idx="6">
                    <c:v>90%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0.6</c:v>
                </c:pt>
                <c:pt idx="1">
                  <c:v>0.65</c:v>
                </c:pt>
                <c:pt idx="2">
                  <c:v>0.68</c:v>
                </c:pt>
                <c:pt idx="3">
                  <c:v>0.7</c:v>
                </c:pt>
                <c:pt idx="4">
                  <c:v>0.72</c:v>
                </c:pt>
                <c:pt idx="5">
                  <c:v>0.73</c:v>
                </c:pt>
                <c:pt idx="6">
                  <c:v>0.74</c:v>
                </c:pt>
                <c:pt idx="7">
                  <c:v>0.75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Overfit – Train</c:v>
                </c:pt>
              </c:strCache>
            </c:strRef>
          </c:tx>
          <c:spPr>
            <a:solidFill>
              <a:srgbClr val="B91C1C"/>
            </a:solidFill>
            <a:ln w="2540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10%</c:v>
                  </c:pt>
                  <c:pt idx="1">
                    <c:v>23%</c:v>
                  </c:pt>
                  <c:pt idx="2">
                    <c:v>37%</c:v>
                  </c:pt>
                  <c:pt idx="3">
                    <c:v>50%</c:v>
                  </c:pt>
                  <c:pt idx="4">
                    <c:v>63%</c:v>
                  </c:pt>
                  <c:pt idx="5">
                    <c:v>77%</c:v>
                  </c:pt>
                  <c:pt idx="6">
                    <c:v>90%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0.98</c:v>
                </c:pt>
                <c:pt idx="1">
                  <c:v>0.97</c:v>
                </c:pt>
                <c:pt idx="2">
                  <c:v>0.97</c:v>
                </c:pt>
                <c:pt idx="3">
                  <c:v>0.96</c:v>
                </c:pt>
                <c:pt idx="4">
                  <c:v>0.95</c:v>
                </c:pt>
                <c:pt idx="5">
                  <c:v>0.94</c:v>
                </c:pt>
                <c:pt idx="6">
                  <c:v>0.94</c:v>
                </c:pt>
                <c:pt idx="7">
                  <c:v>0.95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Overfit – Val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10%</c:v>
                  </c:pt>
                  <c:pt idx="1">
                    <c:v>23%</c:v>
                  </c:pt>
                  <c:pt idx="2">
                    <c:v>37%</c:v>
                  </c:pt>
                  <c:pt idx="3">
                    <c:v>50%</c:v>
                  </c:pt>
                  <c:pt idx="4">
                    <c:v>63%</c:v>
                  </c:pt>
                  <c:pt idx="5">
                    <c:v>77%</c:v>
                  </c:pt>
                  <c:pt idx="6">
                    <c:v>90%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Sheet1!$G$2:$G$9</c:f>
              <c:numCache>
                <c:formatCode>General</c:formatCode>
                <c:ptCount val="8"/>
                <c:pt idx="0">
                  <c:v>0.66</c:v>
                </c:pt>
                <c:pt idx="1">
                  <c:v>0.69</c:v>
                </c:pt>
                <c:pt idx="2">
                  <c:v>0.71</c:v>
                </c:pt>
                <c:pt idx="3">
                  <c:v>0.72</c:v>
                </c:pt>
                <c:pt idx="4">
                  <c:v>0.73</c:v>
                </c:pt>
                <c:pt idx="5">
                  <c:v>0.73</c:v>
                </c:pt>
                <c:pt idx="6">
                  <c:v>0.74</c:v>
                </c:pt>
                <c:pt idx="7">
                  <c:v>0.74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6583680" y="27432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00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Prediction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658368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31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Choices  ·  Model Complexity  ·  Regularisation Strategies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Afan Shah</a:t>
            </a:r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BS Data Science — Section B  |  Semester 6  |  Machine Learning  |  Semester Major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 through all 7 assignment requirements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4114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051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EEG datasets with different imbalance profiles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97480" y="9601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88920" y="1051560"/>
            <a:ext cx="4114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0"/>
          <p:cNvSpPr/>
          <p:nvPr/>
        </p:nvSpPr>
        <p:spPr>
          <a:xfrm>
            <a:off x="2788920" y="10515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0515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892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8892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vs Pipeline B — ordering matters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846320" y="9601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37760" y="1051560"/>
            <a:ext cx="4114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10515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0515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377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93776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PR-AUC across datasets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995160" y="9601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086600" y="1051560"/>
            <a:ext cx="4114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0"/>
          <p:cNvSpPr/>
          <p:nvPr/>
        </p:nvSpPr>
        <p:spPr>
          <a:xfrm>
            <a:off x="7086600" y="10515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0515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Underfitting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08660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 &amp; bias-variance tradeoff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417320" y="260604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508760" y="2697480"/>
            <a:ext cx="4114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5"/>
          <p:cNvSpPr/>
          <p:nvPr/>
        </p:nvSpPr>
        <p:spPr>
          <a:xfrm>
            <a:off x="1508760" y="2697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672" y="269748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Study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50876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vs L2 vs ElasticNet — sparsity &amp; stability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566160" y="260604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657600" y="2697480"/>
            <a:ext cx="4114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0" y="2697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512" y="269748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6576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65760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SMOTE, undersampling, class weighting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715000" y="260604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5806440" y="2697480"/>
            <a:ext cx="41148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3" name="Text 35"/>
          <p:cNvSpPr/>
          <p:nvPr/>
        </p:nvSpPr>
        <p:spPr>
          <a:xfrm>
            <a:off x="5806440" y="2697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2697480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8064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580644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research questions answered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EEG sub-datasets — Kaggle / Bonn University benchmark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914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47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UCI-Epileptic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9768" y="190195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11,500 samples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9768" y="22219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raw EEG time-series features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651760"/>
            <a:ext cx="2560320" cy="1188720"/>
          </a:xfrm>
          <a:prstGeom prst="rect">
            <a:avLst/>
          </a:prstGeom>
          <a:solidFill>
            <a:srgbClr val="EBF4F5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 Primary benchmark configuration for Bonn EEG. Moderate imbalance to stress-test feature selection &amp; baseline metrics.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4"/>
          <p:cNvSpPr/>
          <p:nvPr/>
        </p:nvSpPr>
        <p:spPr>
          <a:xfrm>
            <a:off x="3273552" y="914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913632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44752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0332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 Proxy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310128" y="190195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4,600 samples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10128" y="22219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raw EEG time-series features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91840" y="2651760"/>
            <a:ext cx="2560320" cy="1188720"/>
          </a:xfrm>
          <a:prstGeom prst="rect">
            <a:avLst/>
          </a:prstGeom>
          <a:solidFill>
            <a:srgbClr val="EBF4F5"/>
          </a:solidFill>
          <a:ln/>
        </p:spPr>
      </p:sp>
      <p:sp>
        <p:nvSpPr>
          <p:cNvPr id="24" name="Text 20"/>
          <p:cNvSpPr/>
          <p:nvPr/>
        </p:nvSpPr>
        <p:spPr>
          <a:xfrm>
            <a:off x="3364992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 Mimics real clinical setting — seizures &lt; 5% of recording. Tests extreme imbalance resilience.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08076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80760" y="914400"/>
            <a:ext cx="2743200" cy="4572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3"/>
          <p:cNvSpPr/>
          <p:nvPr/>
        </p:nvSpPr>
        <p:spPr>
          <a:xfrm>
            <a:off x="6153912" y="914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793992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44752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8368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Kaggle-Frequency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190488" y="190195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4,600 samples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190488" y="22219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FFT band-power features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72200" y="2651760"/>
            <a:ext cx="2560320" cy="1188720"/>
          </a:xfrm>
          <a:prstGeom prst="rect">
            <a:avLst/>
          </a:prstGeom>
          <a:solidFill>
            <a:srgbClr val="EBF4F5"/>
          </a:solidFill>
          <a:ln/>
        </p:spPr>
      </p:sp>
      <p:sp>
        <p:nvSpPr>
          <p:cNvPr id="34" name="Text 29"/>
          <p:cNvSpPr/>
          <p:nvPr/>
        </p:nvSpPr>
        <p:spPr>
          <a:xfrm>
            <a:off x="6245352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 Balanced — isolates regularisation effect without imbalance confounding. Domain-relevant features.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derived from same Bonn University EEG source — enabling controlled comparison across imbalance levels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pipelines — hypothesis: preprocessing order is NOT commutative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Filter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713232" cy="68580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 Input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96696" y="1664208"/>
            <a:ext cx="731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1353312"/>
            <a:ext cx="713232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69848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unit-variance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92224" y="1664208"/>
            <a:ext cx="731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1865376" y="1353312"/>
            <a:ext cx="713232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65376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0.5–40 Hz Butterworth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87752" y="1664208"/>
            <a:ext cx="731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2660904" y="1353312"/>
            <a:ext cx="713232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60904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83280" y="1664208"/>
            <a:ext cx="731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Shape 17"/>
          <p:cNvSpPr/>
          <p:nvPr/>
        </p:nvSpPr>
        <p:spPr>
          <a:xfrm>
            <a:off x="3456432" y="1353312"/>
            <a:ext cx="713232" cy="685800"/>
          </a:xfrm>
          <a:prstGeom prst="rect">
            <a:avLst/>
          </a:prstGeom>
          <a:solidFill>
            <a:srgbClr val="45C4B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56432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4320" y="2103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first → stabilises filter numerically → then select discriminative features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914400"/>
            <a:ext cx="39776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914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Extract First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353312"/>
            <a:ext cx="713232" cy="68580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 Input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14416" y="1664208"/>
            <a:ext cx="731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5687568" y="1353312"/>
            <a:ext cx="713232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87568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(10)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09944" y="1664208"/>
            <a:ext cx="731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3096" y="1353312"/>
            <a:ext cx="713232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83096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205472" y="1664208"/>
            <a:ext cx="731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7278624" y="1353312"/>
            <a:ext cx="713232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78624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components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001000" y="1664208"/>
            <a:ext cx="731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8074152" y="1353312"/>
            <a:ext cx="713232" cy="685800"/>
          </a:xfrm>
          <a:prstGeom prst="rect">
            <a:avLst/>
          </a:prstGeom>
          <a:solidFill>
            <a:srgbClr val="45C4B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74152" y="1353312"/>
            <a:ext cx="7132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92040" y="2103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raw stats first → preserve amplitude info → PCA decorrelates correlated band features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914400"/>
            <a:ext cx="36576" cy="3200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28163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Wins on UCI-Epileptic (PR-AUC +0.06–0.08)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" y="3200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Bandpass filter removes non-EEG noise effectively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35844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for raw time-series datasets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28163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Wins on CHB-MIT Proxy dataset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3200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RobustScaler handles seizure amplitude spikes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35844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for outlier-heavy / severely imbalanced data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2519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Leakage Prevention: All preprocessing (scaler, filter, PCA) is fit exclusively on TRAINING data and applied to test data — never vice versa.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  ·  L2  ·  class_weight='balanced'  ·  Pipeline 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474720" cy="210312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 | x) =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2084832"/>
            <a:ext cx="1097280" cy="36576"/>
          </a:xfrm>
          <a:prstGeom prst="rect">
            <a:avLst/>
          </a:prstGeom>
          <a:solidFill>
            <a:srgbClr val="45C4B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21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e^-(β₀ + βᵀx)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32918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Loss: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J(W,b) = (1/m)ΣL(ŷ,y) + (λ/2m)Σ||W||²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960120"/>
          <a:ext cx="4846320" cy="914400"/>
        </p:xfrm>
        <a:graphic>
          <a:graphicData uri="http://schemas.openxmlformats.org/drawingml/2006/table">
            <a:tbl>
              <a:tblPr/>
              <a:tblGrid>
                <a:gridCol w="969264"/>
                <a:gridCol w="969264"/>
                <a:gridCol w="969264"/>
                <a:gridCol w="969264"/>
                <a:gridCol w="96926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UCI-Epileptic (80/20)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CHB-MIT Proxy (95/5)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</a:rPr>
                        <a:t>~0.95 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Kaggle-Frequency (50/50)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~0.91 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~0.97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977640" y="3127248"/>
            <a:ext cx="4846320" cy="9601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77640" y="3127248"/>
            <a:ext cx="109728" cy="9601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3"/>
          <p:cNvSpPr/>
          <p:nvPr/>
        </p:nvSpPr>
        <p:spPr>
          <a:xfrm>
            <a:off x="416052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Accuracy Can Be Misleading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60520" y="34930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 shows 0.95 accuracy — but F1 = 0.61. The model predicts majority class (non-seizure) for most samples.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≠ Good Model on imbalanced data. Use PR-AUC as primary metric.</a:t>
            </a:r>
            <a:endParaRPr lang="en-US" sz="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108960"/>
            <a:ext cx="34747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Underfitting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 demonstrated across 3 intentional C-value scenarios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21945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0.0001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L2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83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25603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F1: &lt; 0.50  |  Val F1: &lt; 0.50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 → HIGH BIAS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914400"/>
            <a:ext cx="2743200" cy="21945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1645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L2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883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176272"/>
            <a:ext cx="25603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F1: ≈ 0.75  |  Val F1: ≈ 0.75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48716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curves → GOOD FIT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743200" cy="2194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10,000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1645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regularisation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1883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176272"/>
            <a:ext cx="25603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F1: → 1.0  |  Val F1: Lower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248716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0.12–0.20 → HIGH VARIANCE</a:t>
            </a:r>
            <a:endParaRPr lang="en-US" sz="9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274320" y="3200400"/>
          <a:ext cx="85953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Study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L2  ·  ElasticNet  —  evaluated across C ∈ {0.001, 0.01, 0.1, 1.0, 10.0, 100.0}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1965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Lasso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F1: ~0.72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~0.69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836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Sparsity: 40–70%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396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Moderate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395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Induces sparsity; implicit feature selection. Risky on 178-dim data.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914400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914400"/>
            <a:ext cx="109728" cy="1965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Ridge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371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F1: ~0.74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6276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~0.71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8836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Sparsity: 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396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High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95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coefficients. Never zeros out. Most stable across datasets.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9904" y="914400"/>
            <a:ext cx="2788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914400"/>
            <a:ext cx="109728" cy="19659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91072" y="1371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F1: ~0.75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16276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~0.72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18836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Sparsity: 20–50%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1072" y="21396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2395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of L1+L2. Best avg PR-AUC. Wins 2/3 datasets. Safe default.</a:t>
            </a:r>
            <a:endParaRPr lang="en-US" sz="9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944368"/>
            <a:ext cx="4114800" cy="1965960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44368"/>
            <a:ext cx="4114800" cy="19659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C: UCI ≈ 1.0  ·  CHB-MIT ≈ 0.1 (more regularisation needed)  ·  Kaggle-Freq ≈ 10.0 (less regularisation)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strategies evaluated — priority: Precision–Recall tradeoff (not just F1)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Fails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135331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Resampling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7472" y="1691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(~0.95) is deceptive. F1 collapses to 0.51. Majority class dominates loss.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50592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914400"/>
            <a:ext cx="201168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0"/>
          <p:cNvSpPr/>
          <p:nvPr/>
        </p:nvSpPr>
        <p:spPr>
          <a:xfrm>
            <a:off x="2496312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3258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23744" y="135331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23744" y="1691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+0.37 vs baseline. Synthetic samples may distort high-dim feature space.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26864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26864" y="914400"/>
            <a:ext cx="201168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5"/>
          <p:cNvSpPr/>
          <p:nvPr/>
        </p:nvSpPr>
        <p:spPr>
          <a:xfrm>
            <a:off x="4672584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3258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0016" y="135331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00016" y="1691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overfit risk than SMOTE. Loses info — slightly lower PR-AUC overall.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803136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03136" y="914400"/>
            <a:ext cx="2011680" cy="3657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5" name="Text 20"/>
          <p:cNvSpPr/>
          <p:nvPr/>
        </p:nvSpPr>
        <p:spPr>
          <a:xfrm>
            <a:off x="6848856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32588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76288" y="135331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876288" y="1691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PR-AUC (0.75). No data augmentation. Most stable across all 3 datasets.</a:t>
            </a:r>
            <a:endParaRPr lang="en-US" sz="8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99232"/>
            <a:ext cx="5029200" cy="2011680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999232"/>
            <a:ext cx="33832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4 key research 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60120"/>
            <a:ext cx="3941064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Does preprocessing order affect results?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39410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significantly. Pipeline A wins on UCI-Epileptic (PR-AUC +0.06–0.08). Pipeline B wins on CHB-MIT due to RobustScaler handling amplitude outliers. No universal winner — dataset-dependent.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960120"/>
            <a:ext cx="3941064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Which regularisation generalises best?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1435608"/>
            <a:ext cx="39410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— best avg PR-AUC, wins on 2/3 datasets. L2 most stable (lowest variance). L1 wins only on low-dim (32-feature) balanced Kaggle-Frequency dataset.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1605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4160520" cy="4114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3017520"/>
            <a:ext cx="3941064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Does ElasticNet consistently outperform L1/L2?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493008"/>
            <a:ext cx="39410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always, but it NEVER performs dramatically worse. On CHB-MIT (extreme imbalance), all penalties collapse similarly — imbalance dominates. ElasticNet is the safest default under uncertainty.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1605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17520"/>
            <a:ext cx="416052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3017520"/>
            <a:ext cx="3941064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How does imbalance interact with regularisation?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3493008"/>
            <a:ext cx="39410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95/5 imbalance, all penalties collapse to similar low F1 — imbalance dominates the loss. Introduce class weighting or SMOTE first, THEN tune regularisation. Class weight + L2 is most stable combo.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EBF4F5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Fix imbalance first → use ElasticNet with cross-validated C → Pipeline A for raw EEG, Pipeline B for outlier-heavy data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5943600" y="457200"/>
            <a:ext cx="3474720" cy="3474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029200" cy="36576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1288"/>
            <a:ext cx="347472" cy="3474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115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Order Matters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91440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Filter-first (A) best for raw EEG. Extract-first (B) better for outlier-heavy imbalanced data.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93976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482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is the Default Choice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914400" y="2395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near-optimal PR-AUC. Balances sparsity (L1) and stability (L2).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26664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980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Wins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914400" y="33284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synthetic data, no info loss. Most stable precision-recall tradeoff.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9352"/>
            <a:ext cx="347472" cy="3474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9136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is the Main Bottleneck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914400" y="42611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95/5 split degrades ALL metrics — outweighs regularisation choice. Fix it first.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Afan Shah  ·  BS DS-B  ·  Semester 6  ·  Machine Learning Semester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Using Logistic Regression</dc:title>
  <dc:subject>PptxGenJS Presentation</dc:subject>
  <dc:creator>M. Afan Shah</dc:creator>
  <cp:lastModifiedBy>M. Afan Shah</cp:lastModifiedBy>
  <cp:revision>1</cp:revision>
  <dcterms:created xsi:type="dcterms:W3CDTF">2026-05-15T10:33:02Z</dcterms:created>
  <dcterms:modified xsi:type="dcterms:W3CDTF">2026-05-15T10:33:02Z</dcterms:modified>
</cp:coreProperties>
</file>